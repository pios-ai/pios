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AA"/>
                </a:solidFill>
                <a:latin typeface="Calibri"/>
              </a:defRPr>
            </a:pPr>
            <a:r>
              <a:t>PiOS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Personal Intelligence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9BAE"/>
                </a:solidFill>
                <a:latin typeface="Calibri"/>
              </a:defRPr>
            </a:pPr>
            <a:r>
              <a:t>你的本地 AI 第二大脑  ·  开源  ·  隐私优先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206240"/>
            <a:ext cx="9144000" cy="937259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AE"/>
                </a:solidFill>
                <a:latin typeface="Calibri"/>
              </a:defRPr>
            </a:pPr>
            <a:r>
              <a:t>Abe  ·  2026.03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9E7E"/>
                </a:solidFill>
                <a:latin typeface="Calibri"/>
              </a:defRPr>
            </a:pPr>
            <a:r>
              <a:t>github.com/pios-ai/pios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你的数字生活，碎成了一地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每天产生的数据散落在几十个 App 里，没有任何系统能把它们串起来。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749039" cy="114300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聊天记录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微信、iMessage、Slack</a:t>
            </a:r>
            <a:br/>
            <a:r>
              <a:t>散落各处，搜不到也看不全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737360"/>
            <a:ext cx="3749039" cy="114300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737360"/>
            <a:ext cx="54864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健康数据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240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Apple Watch 记了一堆</a:t>
            </a:r>
            <a:br/>
            <a:r>
              <a:t>但没人帮你分析趋势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3749039" cy="114300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08960"/>
            <a:ext cx="54864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照片回忆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11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几万张照片存着</a:t>
            </a:r>
            <a:br/>
            <a:r>
              <a:t>但没有上下文和故事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108960"/>
            <a:ext cx="3749039" cy="114300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54864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对话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3611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每天跟 AI 聊很多</a:t>
            </a:r>
            <a:br/>
            <a:r>
              <a:t>但智慧没有沉淀下来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2026：AI 个人助手大爆发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赛道很热，但没有人真正做到「主动理解 + 主动行动」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023360" cy="15087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1508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执行任务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AE"/>
                </a:solidFill>
                <a:latin typeface="Calibri"/>
              </a:defRPr>
            </a:pPr>
            <a:r>
              <a:t>你告诉它做什么，它去做</a:t>
            </a:r>
            <a:br/>
            <a:r>
              <a:t>但它不了解你，没有记忆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600200"/>
            <a:ext cx="1645920" cy="123444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916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Calibri"/>
              </a:defRPr>
            </a:pPr>
            <a:r>
              <a:t>110K+ Stars · 通用 Agent</a:t>
            </a:r>
            <a:br/>
            <a:r>
              <a:t>强在执行，弱在理解你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463040"/>
            <a:ext cx="4023360" cy="15087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463040"/>
            <a:ext cx="54864" cy="150876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5F1"/>
                </a:solidFill>
                <a:latin typeface="Calibri"/>
              </a:defRPr>
            </a:pPr>
            <a:r>
              <a:t>Screenpipe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被动记录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AE"/>
                </a:solidFill>
                <a:latin typeface="Calibri"/>
              </a:defRPr>
            </a:pPr>
            <a:r>
              <a:t>24/7 录屏 + 搜索回放</a:t>
            </a:r>
            <a:br/>
            <a:r>
              <a:t>但只是录像机，不理解内容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600200"/>
            <a:ext cx="1645920" cy="123444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6916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Calibri"/>
              </a:defRPr>
            </a:pPr>
            <a:r>
              <a:t>16K Stars · 开源 Rewind</a:t>
            </a:r>
            <a:br/>
            <a:r>
              <a:t>强在记录，弱在行动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4023360" cy="15087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54864" cy="1508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Khoj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知识问答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AE"/>
                </a:solidFill>
                <a:latin typeface="Calibri"/>
              </a:defRPr>
            </a:pPr>
            <a:r>
              <a:t>连接笔记和文档做 RAG</a:t>
            </a:r>
            <a:br/>
            <a:r>
              <a:t>但不采集数据，不主动帮你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291840"/>
            <a:ext cx="1645920" cy="123444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3832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Calibri"/>
              </a:defRPr>
            </a:pPr>
            <a:r>
              <a:t>25K Stars · 自托管 AI</a:t>
            </a:r>
            <a:br/>
            <a:r>
              <a:t>强在检索，弱在采集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154680"/>
            <a:ext cx="4023360" cy="15087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3154680"/>
            <a:ext cx="54864" cy="1508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PiOS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主动智能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886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AE"/>
                </a:solidFill>
                <a:latin typeface="Calibri"/>
              </a:defRPr>
            </a:pPr>
            <a:r>
              <a:t>采集你的生活 → 融合理解</a:t>
            </a:r>
            <a:br/>
            <a:r>
              <a:t>→ 比你先一步行动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3291840"/>
            <a:ext cx="1645920" cy="123444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33832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Calibri"/>
              </a:defRPr>
            </a:pPr>
            <a:r>
              <a:t>采集 + 融合 + 主动行动</a:t>
            </a:r>
            <a:br/>
            <a:r>
              <a:t>三位一体，无人做到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626864"/>
            <a:ext cx="40233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23376" y="3154680"/>
            <a:ext cx="54864" cy="1508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它们都不是 Jarvis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真正的个人 AI 需要同时做到这三件事——目前没有产品能做到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955279" cy="36576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BAE"/>
                </a:solidFill>
                <a:latin typeface="Calibri"/>
              </a:defRPr>
            </a:pPr>
            <a:r>
              <a:t>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42"/>
                </a:solidFill>
                <a:latin typeface="Calibri"/>
              </a:defRPr>
            </a:pPr>
            <a:r>
              <a:t>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5F1"/>
                </a:solidFill>
                <a:latin typeface="Calibri"/>
              </a:defRPr>
            </a:pPr>
            <a:r>
              <a:t>Screenpipe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Khoj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PiOS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7955279" cy="438912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202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8F0"/>
                </a:solidFill>
                <a:latin typeface="Calibri"/>
              </a:defRPr>
            </a:pPr>
            <a:r>
              <a:t>主动采集数据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2023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BAE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2023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仅录屏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2023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BAE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2023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多源插件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0008"/>
            <a:ext cx="7955279" cy="43891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39572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8F0"/>
                </a:solidFill>
                <a:latin typeface="Calibri"/>
              </a:defRPr>
            </a:pPr>
            <a:r>
              <a:t>理解生活上下文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3957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BAE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3957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BAE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395727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395727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跨源融合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825496"/>
            <a:ext cx="7955279" cy="438912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87121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8F0"/>
                </a:solidFill>
                <a:latin typeface="Calibri"/>
              </a:defRPr>
            </a:pPr>
            <a:r>
              <a:t>主动替你行动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8712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需指令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8712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BAE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87121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BAE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87121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自动触发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00984"/>
            <a:ext cx="7955279" cy="438912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34670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8F0"/>
                </a:solidFill>
                <a:latin typeface="Calibri"/>
              </a:defRPr>
            </a:pPr>
            <a:r>
              <a:t>本地隐私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34670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本地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34670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本地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34670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可选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34670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本地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76472"/>
            <a:ext cx="7955279" cy="438912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82219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8F0"/>
                </a:solidFill>
                <a:latin typeface="Calibri"/>
              </a:defRPr>
            </a:pPr>
            <a:r>
              <a:t>插件生态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8221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丰富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8221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有限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82219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8F0"/>
                </a:solidFill>
                <a:latin typeface="Calibri"/>
              </a:defRPr>
            </a:pPr>
            <a:r>
              <a:t>有限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82219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开放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297680"/>
            <a:ext cx="7955279" cy="50292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434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PiOS 的独特定位：唯一同时做到「主动采集 + 跨源融合 + 主动行动」的开源个人 AI 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它比你更早知道你需要什么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不是你问它，是它主动帮你——在你睡觉的时候，它已经准备好了一切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81328"/>
            <a:ext cx="91440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A2F"/>
                </a:solidFill>
                <a:latin typeface="Calibri"/>
              </a:defRPr>
            </a:pPr>
            <a:r>
              <a:t>凌晨 3:00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447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你在睡觉。PiOS 没有。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1051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8F0"/>
                </a:solidFill>
                <a:latin typeface="Calibri"/>
              </a:defRPr>
            </a:pPr>
            <a:r>
              <a:t>它发现你这周一直在研究 AI Agent 框架，自动去 GitHub 追踪了 OpenClaw 的最新 release、Langchain 的breaking change、3 篇高引用论文。</a:t>
            </a:r>
            <a:br/>
            <a:r>
              <a:t>早上醒来，一份简报已经躺在你的 Dashboard 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8229600" cy="10515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54864" cy="105156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15768"/>
            <a:ext cx="914400" cy="27432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A2F"/>
                </a:solidFill>
                <a:latin typeface="Calibri"/>
              </a:defRPr>
            </a:pPr>
            <a:r>
              <a:t>上午 8:00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791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它从微信知道你今天约了一个投资人。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4495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8F0"/>
                </a:solidFill>
                <a:latin typeface="Calibri"/>
              </a:defRPr>
            </a:pPr>
            <a:r>
              <a:t>自动整理了对方公司最近的投资动态、你们上次聊天的要点回顾、以及你最近项目的进展摘要——</a:t>
            </a:r>
            <a:br/>
            <a:r>
              <a:t>打开手机时，见面话题、数据支撑、待讨论问题，全部就绪。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54864" cy="10515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50208"/>
            <a:ext cx="91440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410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A2F"/>
                </a:solidFill>
                <a:latin typeface="Calibri"/>
              </a:defRPr>
            </a:pPr>
            <a:r>
              <a:t>下午 6:00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136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它把你的健康、社交、工作串在了一起。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793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8F0"/>
                </a:solidFill>
                <a:latin typeface="Calibri"/>
              </a:defRPr>
            </a:pPr>
            <a:r>
              <a:t>连续 3 天步数不到 2000 + 微信里你跟朋友说「腰酸背疼」+ 日历显示全是会议——</a:t>
            </a:r>
            <a:br/>
            <a:r>
              <a:t>它提醒你：该站起来走走了，顺便帮你找了附近评分最高的推拿店。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为什么现在能做到？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三个技术拐点在 2025-2026 年同时成熟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51760" cy="31089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本地大模型可用了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Llama 3.1 8B 在 MacBook 上</a:t>
            </a:r>
            <a:br/>
            <a:r>
              <a:t>就能流畅运行——隐私数据</a:t>
            </a:r>
            <a:br/>
            <a:r>
              <a:t>不再需要上传到云端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39"/>
            <a:ext cx="2286000" cy="6858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推理能力 + 隐私保障</a:t>
            </a:r>
            <a:br/>
            <a:r>
              <a:t>= 个人 AI 的基石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651760" cy="31089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554480"/>
            <a:ext cx="2651760" cy="4572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5F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框架爆发了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从 OpenClaw 到 Claude Code，</a:t>
            </a:r>
            <a:br/>
            <a:r>
              <a:t>AI 不再只会聊天——它能</a:t>
            </a:r>
            <a:br/>
            <a:r>
              <a:t>操作文件、调 API、写代码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749039"/>
            <a:ext cx="2286000" cy="6858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840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5F1"/>
                </a:solidFill>
                <a:latin typeface="Calibri"/>
              </a:defRPr>
            </a:pPr>
            <a:r>
              <a:t>AI 从「回答者」变成</a:t>
            </a:r>
            <a:br/>
            <a:r>
              <a:t>「执行者」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2651760" cy="31089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65176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78BF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数据源越来越开放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Apple HealthKit、Immich、</a:t>
            </a:r>
            <a:br/>
            <a:r>
              <a:t>Obsidian——越来越多工具</a:t>
            </a:r>
            <a:br/>
            <a:r>
              <a:t>提供本地 API 和数据导出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749039"/>
            <a:ext cx="2286000" cy="6858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3840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Calibri"/>
              </a:defRPr>
            </a:pPr>
            <a:r>
              <a:t>个人数据不再被</a:t>
            </a:r>
            <a:br/>
            <a:r>
              <a:t>平台锁死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三层架构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数据采集 → 知识融合 → 智能行动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31089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36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A2F"/>
                </a:solidFill>
                <a:latin typeface="Calibri"/>
              </a:defRPr>
            </a:pPr>
            <a: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184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数据层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插件从各数据源</a:t>
            </a:r>
            <a:br/>
            <a:r>
              <a:t>采集原始数据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2286000" cy="128016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8F0"/>
                </a:solidFill>
                <a:latin typeface="Calibri"/>
              </a:defRPr>
            </a:pPr>
            <a:r>
              <a:t>WeChat · Health</a:t>
            </a:r>
            <a:br/>
            <a:r>
              <a:t>Photos · ChatGPT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2743200"/>
            <a:ext cx="228600" cy="2286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651760" cy="31089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548640" cy="32004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636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A2F"/>
                </a:solidFill>
                <a:latin typeface="Calibri"/>
              </a:defRPr>
            </a:pPr>
            <a:r>
              <a:t>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6184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知识层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148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归一化、索引、</a:t>
            </a:r>
            <a:br/>
            <a:r>
              <a:t>向量化、融合理解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017520"/>
            <a:ext cx="2286000" cy="128016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31089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8F0"/>
                </a:solidFill>
                <a:latin typeface="Calibri"/>
              </a:defRPr>
            </a:pPr>
            <a:r>
              <a:t>Markdown Vault</a:t>
            </a:r>
            <a:br/>
            <a:r>
              <a:t>SQLite · ChromaDB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2743200"/>
            <a:ext cx="228600" cy="2286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2651760" cy="310896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645920"/>
            <a:ext cx="54864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36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A2F"/>
                </a:solidFill>
                <a:latin typeface="Calibri"/>
              </a:defRPr>
            </a:pPr>
            <a:r>
              <a:t>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6184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行动层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AI Agent 基于</a:t>
            </a:r>
            <a:br/>
            <a:r>
              <a:t>上下文主动行动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017520"/>
            <a:ext cx="2286000" cy="128016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1089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8F0"/>
                </a:solidFill>
                <a:latin typeface="Calibri"/>
              </a:defRPr>
            </a:pPr>
            <a:r>
              <a:t>情报搜集 · 会议准备</a:t>
            </a:r>
            <a:br/>
            <a:r>
              <a:t>异常告警 · 日程建议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已经跑起来了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每天自动运行的 4 条数据管道，持续记录我的生活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680960" cy="7315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45720" cy="731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81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微信日记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9280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解密本地 WeChat 数据库，提取每日聊天 → AI 摘要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91639"/>
            <a:ext cx="109728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68249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A2F"/>
                </a:solidFill>
                <a:latin typeface="Calibri"/>
              </a:defRPr>
            </a:pPr>
            <a:r>
              <a:t>00:01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77439"/>
            <a:ext cx="7680960" cy="7315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77439"/>
            <a:ext cx="45720" cy="73152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68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4505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健康日报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614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Apple Health 数据 → 异常检测 + 趋势分析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560320"/>
            <a:ext cx="1097280" cy="32004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55117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A2F"/>
                </a:solidFill>
                <a:latin typeface="Calibri"/>
              </a:defRPr>
            </a:pPr>
            <a:r>
              <a:t>00:30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46120"/>
            <a:ext cx="7680960" cy="7315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45720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19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照片日记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30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Immich 照片库 → GPS + EXIF → AI 看图写日记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429000"/>
            <a:ext cx="109728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4198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A2F"/>
                </a:solidFill>
                <a:latin typeface="Calibri"/>
              </a:defRPr>
            </a:pPr>
            <a:r>
              <a:t>22:00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45720" cy="7315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87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对话总结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98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ChatGPT + Claude 当日对话 → 知识沉淀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4297680"/>
            <a:ext cx="1097280" cy="3200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2885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A2F"/>
                </a:solidFill>
                <a:latin typeface="Calibri"/>
              </a:defRPr>
            </a:pPr>
            <a:r>
              <a:t>23:50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插件架构：万物皆可接入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两类插件 + 标准协议 = 无限扩展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840480" cy="329184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84048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A2F"/>
                </a:solidFill>
                <a:latin typeface="Calibri"/>
              </a:defRPr>
            </a:pPr>
            <a:r>
              <a:t>Source Plugins  ·  数据采集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✅ Apple Health / Google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✅ WeChat / Telegram / Slack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523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✅ Immich / Google Photos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998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✅ ChatGPT / Claude 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47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🔜 日历 / 邮件 / 浏览历史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🔜 Kindle 笔记 / RSS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42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🌱 社区贡献更多...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463040"/>
            <a:ext cx="3840480" cy="329184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4904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A2F"/>
                </a:solidFill>
                <a:latin typeface="Calibri"/>
              </a:defRPr>
            </a:pPr>
            <a:r>
              <a:t>Agent Plugins  ·  智能行动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✅ 每日综合摘要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04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✅ 健康异常监测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523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🔜 夜间情报搜集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0998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🔜 会议自动准备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447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🔜 跨源语义搜索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94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🔜 智能日程建议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142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AE"/>
                </a:solidFill>
                <a:latin typeface="Calibri"/>
              </a:defRPr>
            </a:pPr>
            <a:r>
              <a:t>🌱 社区贡献更多...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隐私：不是功能，是底线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AE"/>
                </a:solidFill>
                <a:latin typeface="Calibri"/>
              </a:defRPr>
            </a:pPr>
            <a:r>
              <a:t>你的聊天记录、健康数据、照片——凭什么要上传到别人的服务器？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749039" cy="2926080"/>
          </a:xfrm>
          <a:prstGeom prst="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749039" cy="411480"/>
          </a:xfrm>
          <a:prstGeom prst="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99"/>
                </a:solidFill>
                <a:latin typeface="Calibri"/>
              </a:defRPr>
            </a:pPr>
            <a:r>
              <a:t>云端方案 (Rewind → 被 Meta 收购)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BBB"/>
                </a:solidFill>
                <a:latin typeface="Calibri"/>
              </a:defRPr>
            </a:pPr>
            <a:r>
              <a:t>❌  所有数据上传到云端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BBB"/>
                </a:solidFill>
                <a:latin typeface="Calibri"/>
              </a:defRPr>
            </a:pPr>
            <a:r>
              <a:t>❌  截屏/录音持续上传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BBB"/>
                </a:solidFill>
                <a:latin typeface="Calibri"/>
              </a:defRPr>
            </a:pPr>
            <a:r>
              <a:t>❌  公司关停 = 数据丢失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BBB"/>
                </a:solidFill>
                <a:latin typeface="Calibri"/>
              </a:defRPr>
            </a:pPr>
            <a:r>
              <a:t>❌  隐私条款随时可改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BBB"/>
                </a:solidFill>
                <a:latin typeface="Calibri"/>
              </a:defRPr>
            </a:pPr>
            <a:r>
              <a:t>❌  月费 $20-40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691640"/>
            <a:ext cx="3749039" cy="2926080"/>
          </a:xfrm>
          <a:prstGeom prst="rect">
            <a:avLst/>
          </a:prstGeom>
          <a:solidFill>
            <a:srgbClr val="0A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691640"/>
            <a:ext cx="3749039" cy="41148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709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PiOS（本地优先 · 开源）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FFDD"/>
                </a:solidFill>
                <a:latin typeface="Calibri"/>
              </a:defRPr>
            </a:pPr>
            <a:r>
              <a:t>✅  数据 100% 存在你的电脑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FFDD"/>
                </a:solidFill>
                <a:latin typeface="Calibri"/>
              </a:defRPr>
            </a:pPr>
            <a:r>
              <a:t>✅  支持本地大模型 (Ollama)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FFDD"/>
                </a:solidFill>
                <a:latin typeface="Calibri"/>
              </a:defRPr>
            </a:pPr>
            <a:r>
              <a:t>✅  云 API 只传摘要不传原数据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83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FFDD"/>
                </a:solidFill>
                <a:latin typeface="Calibri"/>
              </a:defRPr>
            </a:pPr>
            <a:r>
              <a:t>✅  开源代码完全可审计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FFDD"/>
                </a:solidFill>
                <a:latin typeface="Calibri"/>
              </a:defRPr>
            </a:pPr>
            <a:r>
              <a:t>✅  永久免费，你拥有一切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3160" y="1417319"/>
            <a:ext cx="457200" cy="27432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965960" cy="347472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9659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" cy="3474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86584" y="1280160"/>
            <a:ext cx="36576" cy="3474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718304"/>
            <a:ext cx="19659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996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A2F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39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基础 + 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39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核心架构搭建</a:t>
            </a:r>
            <a:br/>
            <a:r>
              <a:t>4 条管道迁移</a:t>
            </a:r>
            <a:br/>
            <a:r>
              <a:t>Web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160020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进行中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417319"/>
            <a:ext cx="457200" cy="27432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1280160"/>
            <a:ext cx="1965960" cy="34747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1280160"/>
            <a:ext cx="1965960" cy="4572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1508760"/>
            <a:ext cx="502920" cy="27432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14996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A2F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920239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知识融合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377439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向量搜索</a:t>
            </a:r>
            <a:br/>
            <a:r>
              <a:t>跨源语义查询</a:t>
            </a:r>
            <a:br/>
            <a:r>
              <a:t>时间线视图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206240"/>
            <a:ext cx="1600200" cy="32004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419709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BAE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79" y="1417319"/>
            <a:ext cx="457200" cy="27432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0" y="1280160"/>
            <a:ext cx="1965960" cy="34747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1280160"/>
            <a:ext cx="196596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1508760"/>
            <a:ext cx="5029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4996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A2F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1920239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主动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377439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夜间情报搜集</a:t>
            </a:r>
            <a:br/>
            <a:r>
              <a:t>会议自动准备</a:t>
            </a:r>
            <a:br/>
            <a:r>
              <a:t>健康趋势预警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4206240"/>
            <a:ext cx="1600200" cy="32004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419709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BAE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79" y="1280160"/>
            <a:ext cx="1965960" cy="34747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79" y="1280160"/>
            <a:ext cx="1965960" cy="457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23759" y="1508760"/>
            <a:ext cx="502920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59" y="14996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A2F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59" y="1920239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生态 + 客户端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59" y="2377439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插件市场</a:t>
            </a:r>
            <a:br/>
            <a:r>
              <a:t>桌面客户端</a:t>
            </a:r>
            <a:br/>
            <a:r>
              <a:t>端到端加密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59" y="4206240"/>
            <a:ext cx="1600200" cy="32004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59" y="419709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BAE"/>
                </a:solidFill>
                <a:latin typeface="Calibri"/>
              </a:defRPr>
            </a:pPr>
            <a:r>
              <a:t>Q4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Join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构建属于每个人的 AI 第二大脑</a:t>
            </a:r>
            <a:br/>
            <a:r>
              <a:t>你的数据，你的 AI，你的智能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560320" cy="11887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25603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Star &amp; Fork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29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github.com/pios-ai/pios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926080"/>
            <a:ext cx="2560320" cy="11887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926080"/>
            <a:ext cx="2560320" cy="36576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贡献插件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写一个数据源或 Agent 插件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2560320" cy="1188720"/>
          </a:xfrm>
          <a:prstGeom prst="rect">
            <a:avLst/>
          </a:prstGeom>
          <a:solidFill>
            <a:srgbClr val="13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256032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加入社区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429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分享你的使用场景和想法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BAE"/>
                </a:solidFill>
                <a:latin typeface="Calibr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